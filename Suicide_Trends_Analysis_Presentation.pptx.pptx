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6" r:id="rId4"/>
    <p:sldId id="259" r:id="rId5"/>
    <p:sldId id="264" r:id="rId6"/>
    <p:sldId id="269" r:id="rId7"/>
    <p:sldId id="270" r:id="rId8"/>
    <p:sldId id="268" r:id="rId9"/>
    <p:sldId id="27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92" d="100"/>
          <a:sy n="92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B73ED-5A7F-49D9-8DE0-65F5ABD04C5E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6326A-A01E-48D9-9C79-95BB8A3B1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05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7223bd2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7223bd2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4620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caee8303e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caee8303e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799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5367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7223bd2a0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7223bd2a0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0906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403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3056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078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896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0301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1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1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4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34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01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29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25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48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32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9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62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4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F6550-DC47-412E-A6BD-C043C18783D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79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/>
        </p:nvSpPr>
        <p:spPr>
          <a:xfrm>
            <a:off x="-391793" y="599103"/>
            <a:ext cx="11360800" cy="18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4800" dirty="0"/>
              <a:t>Suicide Trends Analysis in India </a:t>
            </a:r>
          </a:p>
          <a:p>
            <a:pPr algn="ctr"/>
            <a:r>
              <a:rPr lang="en-US" sz="4800" dirty="0"/>
              <a:t>Based on Educational Status</a:t>
            </a:r>
            <a:endParaRPr sz="4800" dirty="0"/>
          </a:p>
        </p:txBody>
      </p:sp>
      <p:sp>
        <p:nvSpPr>
          <p:cNvPr id="334" name="Google Shape;334;p13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>
              <a:buClr>
                <a:srgbClr val="000000"/>
              </a:buClr>
              <a:buSzPts val="1200"/>
            </a:pP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-1340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63B57-2B6C-4AEF-AA4E-F393A4E8B2DF}"/>
              </a:ext>
            </a:extLst>
          </p:cNvPr>
          <p:cNvSpPr txBox="1"/>
          <p:nvPr/>
        </p:nvSpPr>
        <p:spPr>
          <a:xfrm>
            <a:off x="7860303" y="3972760"/>
            <a:ext cx="3199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~ </a:t>
            </a:r>
            <a:r>
              <a:rPr lang="en-US" sz="3200" dirty="0"/>
              <a:t>Sayali Kamble</a:t>
            </a:r>
            <a:endParaRPr lang="en-US" sz="32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96" y="172324"/>
            <a:ext cx="848809" cy="7343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3422A3-BFC6-8889-98CF-4ECC171817A0}"/>
              </a:ext>
            </a:extLst>
          </p:cNvPr>
          <p:cNvSpPr txBox="1"/>
          <p:nvPr/>
        </p:nvSpPr>
        <p:spPr>
          <a:xfrm>
            <a:off x="7099136" y="2563423"/>
            <a:ext cx="4465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Tools Used: Python, Pandas, Matplotlib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18CEB-BAA2-3109-1D19-C8F941B3E331}"/>
              </a:ext>
            </a:extLst>
          </p:cNvPr>
          <p:cNvSpPr txBox="1"/>
          <p:nvPr/>
        </p:nvSpPr>
        <p:spPr>
          <a:xfrm>
            <a:off x="261866" y="4136910"/>
            <a:ext cx="4645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Data Source: India Data Portal, Government of India (Open Data Initiative)</a:t>
            </a:r>
            <a:endParaRPr lang="en-US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72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>
            <a:spLocks noGrp="1"/>
          </p:cNvSpPr>
          <p:nvPr>
            <p:ph type="ctrTitle"/>
          </p:nvPr>
        </p:nvSpPr>
        <p:spPr>
          <a:xfrm>
            <a:off x="-13400" y="0"/>
            <a:ext cx="12192000" cy="947680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0" y="947680"/>
            <a:ext cx="12218800" cy="545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421213" indent="-285750" algn="just"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/>
              <a:t>Suicide remains a critical </a:t>
            </a:r>
            <a:r>
              <a:rPr lang="en-US" sz="2400" b="1" dirty="0">
                <a:solidFill>
                  <a:schemeClr val="accent2"/>
                </a:solidFill>
              </a:rPr>
              <a:t>socio-economic</a:t>
            </a:r>
            <a:r>
              <a:rPr lang="en-US" sz="2000" dirty="0"/>
              <a:t> and public health challenge in India, with complex underlying factors influenced by education, gender, and regional disparities.</a:t>
            </a:r>
          </a:p>
          <a:p>
            <a:pPr marL="592663" lvl="1" algn="just">
              <a:buClr>
                <a:srgbClr val="000000"/>
              </a:buClr>
              <a:buSzPts val="2000"/>
            </a:pPr>
            <a:endParaRPr lang="en-US" sz="2000" dirty="0"/>
          </a:p>
          <a:p>
            <a:pPr marL="421213" indent="-285750" algn="just"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/>
              <a:t>Despite the availability of government data, there is a lack of structured analysis to understand how </a:t>
            </a:r>
            <a:r>
              <a:rPr lang="en-US" sz="2400" b="1" dirty="0">
                <a:solidFill>
                  <a:schemeClr val="accent2"/>
                </a:solidFill>
              </a:rPr>
              <a:t>educational attainment </a:t>
            </a:r>
            <a:r>
              <a:rPr lang="en-US" sz="2000" dirty="0"/>
              <a:t>impacts suicide trends over time.</a:t>
            </a:r>
          </a:p>
          <a:p>
            <a:pPr marL="135463" algn="just">
              <a:buClr>
                <a:srgbClr val="000000"/>
              </a:buClr>
              <a:buSzPts val="2000"/>
            </a:pPr>
            <a:endParaRPr lang="en-US" sz="2000" dirty="0"/>
          </a:p>
          <a:p>
            <a:pPr marL="421213" indent="-285750" algn="just"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/>
              <a:t>Identifying patterns across different educational groups is essential to recognize vulnerable populations and underlying risk factors.</a:t>
            </a:r>
          </a:p>
          <a:p>
            <a:pPr marL="135463" algn="just">
              <a:buClr>
                <a:srgbClr val="000000"/>
              </a:buClr>
              <a:buSzPts val="2000"/>
            </a:pPr>
            <a:endParaRPr lang="en-US" sz="2000" dirty="0"/>
          </a:p>
          <a:p>
            <a:pPr marL="421213" indent="-285750" algn="just"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/>
              <a:t>There is a need for a </a:t>
            </a:r>
            <a:r>
              <a:rPr lang="en-US" sz="2400" b="1" dirty="0">
                <a:solidFill>
                  <a:schemeClr val="accent2"/>
                </a:solidFill>
              </a:rPr>
              <a:t>data-driven approach</a:t>
            </a:r>
            <a:r>
              <a:rPr lang="en-US" sz="2000" dirty="0"/>
              <a:t> to explore temporal, demographic, and regional variations in suicide cases.</a:t>
            </a:r>
          </a:p>
          <a:p>
            <a:pPr marL="135463" algn="just">
              <a:buClr>
                <a:srgbClr val="000000"/>
              </a:buClr>
              <a:buSzPts val="2000"/>
            </a:pPr>
            <a:endParaRPr lang="en-US" sz="2000" dirty="0"/>
          </a:p>
          <a:p>
            <a:pPr marL="421213" indent="-285750" algn="just"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/>
              <a:t>This project uses data analytics to generate insights for decision-making and </a:t>
            </a:r>
            <a:r>
              <a:rPr lang="en-US" sz="2400" b="1" dirty="0">
                <a:solidFill>
                  <a:schemeClr val="accent2"/>
                </a:solidFill>
              </a:rPr>
              <a:t>policy development</a:t>
            </a:r>
            <a:r>
              <a:rPr lang="en-US" sz="2000" dirty="0"/>
              <a:t>.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</a:p>
          <a:p>
            <a:pPr marL="135463" algn="just">
              <a:buClr>
                <a:srgbClr val="000000"/>
              </a:buClr>
              <a:buSzPts val="2000"/>
            </a:pP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14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5" name="Google Shape;345;p14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9205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the Data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-13400" y="984541"/>
            <a:ext cx="12192000" cy="5416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contains information on suicide cases categorized by </a:t>
            </a:r>
            <a:r>
              <a:rPr lang="en-US" sz="2400" b="1" dirty="0">
                <a:solidFill>
                  <a:schemeClr val="accent2"/>
                </a:solidFill>
              </a:rPr>
              <a:t>educational status</a:t>
            </a:r>
            <a:r>
              <a:rPr lang="en-US" sz="2400" dirty="0"/>
              <a:t> </a:t>
            </a:r>
            <a:r>
              <a:rPr lang="en-US" sz="2000" dirty="0"/>
              <a:t>across multiple years.</a:t>
            </a:r>
          </a:p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dataset is obtained from the </a:t>
            </a:r>
            <a:r>
              <a:rPr lang="en-US" sz="2400" b="1" dirty="0">
                <a:solidFill>
                  <a:schemeClr val="accent2"/>
                </a:solidFill>
              </a:rPr>
              <a:t>India Data Portal</a:t>
            </a:r>
            <a:r>
              <a:rPr lang="en-US" sz="2000" b="1" dirty="0"/>
              <a:t>,</a:t>
            </a:r>
            <a:r>
              <a:rPr lang="en-US" sz="2000" dirty="0"/>
              <a:t> an official Government of India open data platform.</a:t>
            </a:r>
          </a:p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Key attributes include </a:t>
            </a:r>
            <a:r>
              <a:rPr lang="en-US" sz="2000" b="1" dirty="0">
                <a:solidFill>
                  <a:schemeClr val="accent2"/>
                </a:solidFill>
              </a:rPr>
              <a:t>Year, State, Gender, Education Level, and Number of Deaths</a:t>
            </a:r>
            <a:r>
              <a:rPr lang="en-US" sz="2000" dirty="0"/>
              <a:t>.</a:t>
            </a:r>
          </a:p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dataset is structured and suitable for performing </a:t>
            </a:r>
            <a:r>
              <a:rPr lang="en-US" sz="2400" b="1" dirty="0">
                <a:solidFill>
                  <a:schemeClr val="accent2"/>
                </a:solidFill>
              </a:rPr>
              <a:t>exploratory data analysis (EDA) </a:t>
            </a:r>
            <a:r>
              <a:rPr lang="en-US" sz="2000" dirty="0"/>
              <a:t>and </a:t>
            </a:r>
            <a:r>
              <a:rPr lang="en-US" sz="2400" b="1" dirty="0">
                <a:solidFill>
                  <a:schemeClr val="accent2"/>
                </a:solidFill>
              </a:rPr>
              <a:t>visualization.</a:t>
            </a:r>
          </a:p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dataset enables in-depth analysis of social patterns and supports </a:t>
            </a:r>
            <a:r>
              <a:rPr lang="en-US" sz="2400" b="1" dirty="0">
                <a:solidFill>
                  <a:schemeClr val="accent2"/>
                </a:solidFill>
              </a:rPr>
              <a:t>data-driven insights</a:t>
            </a:r>
            <a:r>
              <a:rPr lang="en-US" sz="2000" dirty="0"/>
              <a:t>.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7885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ctrTitle"/>
          </p:nvPr>
        </p:nvSpPr>
        <p:spPr>
          <a:xfrm>
            <a:off x="0" y="79389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 / </a:t>
            </a:r>
            <a:r>
              <a:rPr lang="en-US" sz="4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Methodology</a:t>
            </a:r>
            <a:endParaRPr sz="4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0" y="1069600"/>
            <a:ext cx="12192000" cy="5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Collected and loaded the dataset from India Data Portal for analysis.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Performed </a:t>
            </a:r>
            <a:r>
              <a:rPr lang="en-US" sz="2400" b="1" dirty="0">
                <a:solidFill>
                  <a:schemeClr val="accent2"/>
                </a:solidFill>
              </a:rPr>
              <a:t>data cleaning </a:t>
            </a:r>
            <a:r>
              <a:rPr lang="en-US" sz="2400" dirty="0"/>
              <a:t>by handling missing values and ensuring data consistency.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Conducted </a:t>
            </a:r>
            <a:r>
              <a:rPr lang="en-US" sz="2400" b="1" dirty="0">
                <a:solidFill>
                  <a:schemeClr val="accent2"/>
                </a:solidFill>
              </a:rPr>
              <a:t>exploratory data analysis (EDA) </a:t>
            </a:r>
            <a:r>
              <a:rPr lang="en-US" sz="2400" dirty="0"/>
              <a:t>to understand trends and patterns.</a:t>
            </a:r>
          </a:p>
          <a:p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Analyzed suicide cases based on educational status, gender, year, and region.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Used </a:t>
            </a:r>
            <a:r>
              <a:rPr lang="en-US" sz="2400" b="1" dirty="0">
                <a:solidFill>
                  <a:schemeClr val="accent2"/>
                </a:solidFill>
              </a:rPr>
              <a:t>data visualization </a:t>
            </a:r>
            <a:r>
              <a:rPr lang="en-US" sz="2400" dirty="0"/>
              <a:t>techniques (bar charts, line graphs, pie charts) to represent </a:t>
            </a:r>
            <a:r>
              <a:rPr lang="en-US" sz="2400" b="1" dirty="0">
                <a:solidFill>
                  <a:schemeClr val="accent2"/>
                </a:solidFill>
              </a:rPr>
              <a:t>insights</a:t>
            </a:r>
            <a:r>
              <a:rPr lang="en-US" sz="2400" dirty="0"/>
              <a:t>.</a:t>
            </a:r>
          </a:p>
          <a:p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Interpreted results to identify key patterns and </a:t>
            </a:r>
            <a:r>
              <a:rPr lang="en-US" sz="2400" b="1" dirty="0">
                <a:solidFill>
                  <a:schemeClr val="accent2"/>
                </a:solidFill>
              </a:rPr>
              <a:t>high-risk groups</a:t>
            </a:r>
            <a:r>
              <a:rPr lang="en-US" sz="2400" dirty="0"/>
              <a:t>.</a:t>
            </a:r>
            <a:r>
              <a:rPr lang="en-US" sz="2400" b="1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353" name="Google Shape;353;p15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5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5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9981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US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Insights</a:t>
            </a:r>
            <a:endParaRPr sz="4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13400" y="984541"/>
            <a:ext cx="12192000" cy="5416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1066785" lvl="1" algn="just">
              <a:spcBef>
                <a:spcPts val="2133"/>
              </a:spcBef>
              <a:spcAft>
                <a:spcPts val="2133"/>
              </a:spcAft>
            </a:pPr>
            <a:r>
              <a:rPr lang="en-U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1CFBC83C-7667-FC5F-CFCC-AC997F1E0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128" y="1170450"/>
            <a:ext cx="5614514" cy="4703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EDF6F9-A42F-F5C9-73E9-22FB3D29B6B1}"/>
              </a:ext>
            </a:extLst>
          </p:cNvPr>
          <p:cNvSpPr txBox="1"/>
          <p:nvPr/>
        </p:nvSpPr>
        <p:spPr>
          <a:xfrm>
            <a:off x="326571" y="1170450"/>
            <a:ext cx="544830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Wingdings" panose="05000000000000000000" pitchFamily="2" charset="2"/>
              </a:rPr>
              <a:t>Q.1  </a:t>
            </a:r>
            <a:r>
              <a:rPr lang="en-US" sz="2800" b="1" dirty="0"/>
              <a:t>Education-wise Analysis</a:t>
            </a:r>
            <a:endParaRPr lang="en-US" sz="2800" b="1" dirty="0">
              <a:solidFill>
                <a:schemeClr val="dk1"/>
              </a:solidFill>
              <a:latin typeface="Roboto"/>
              <a:ea typeface="Roboto"/>
              <a:cs typeface="Roboto"/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0C35A-40DB-D3A5-D362-FFEC53A9B179}"/>
              </a:ext>
            </a:extLst>
          </p:cNvPr>
          <p:cNvSpPr txBox="1"/>
          <p:nvPr/>
        </p:nvSpPr>
        <p:spPr>
          <a:xfrm>
            <a:off x="435200" y="1557247"/>
            <a:ext cx="611274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2000" dirty="0"/>
              <a:t>Suicide cases are highest among </a:t>
            </a:r>
            <a:r>
              <a:rPr lang="en-US" sz="2000" b="1" dirty="0"/>
              <a:t>middle-level education  (up to class 8th)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Secondary education group also shows </a:t>
            </a:r>
            <a:r>
              <a:rPr lang="en-US" sz="2000" b="1" dirty="0"/>
              <a:t>high number of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Cases decrease as education level increases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Higher education groups like </a:t>
            </a:r>
            <a:r>
              <a:rPr lang="en-US" sz="2000" b="1" dirty="0"/>
              <a:t>graduates and professionals show very low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Overall, lower and middle education groups are more affected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2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US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Insights</a:t>
            </a:r>
            <a:endParaRPr sz="4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13400" y="984541"/>
            <a:ext cx="12192000" cy="5416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609585" algn="just">
              <a:lnSpc>
                <a:spcPct val="150000"/>
              </a:lnSpc>
              <a:spcBef>
                <a:spcPts val="2133"/>
              </a:spcBef>
              <a:spcAft>
                <a:spcPts val="2133"/>
              </a:spcAft>
            </a:pPr>
            <a:endParaRPr sz="2667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5D6FB-3F14-BBC4-72C3-0D2ABE890248}"/>
              </a:ext>
            </a:extLst>
          </p:cNvPr>
          <p:cNvSpPr txBox="1"/>
          <p:nvPr/>
        </p:nvSpPr>
        <p:spPr>
          <a:xfrm>
            <a:off x="114299" y="1236088"/>
            <a:ext cx="636814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Q.2 Year-wise Suicide Trend Analysis</a:t>
            </a:r>
          </a:p>
          <a:p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Suicide cases were </a:t>
            </a:r>
            <a:r>
              <a:rPr lang="en-US" sz="2000" b="1" dirty="0"/>
              <a:t>highest in 2018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There is a </a:t>
            </a:r>
            <a:r>
              <a:rPr lang="en-US" sz="2000" b="1" dirty="0"/>
              <a:t>sharp drop in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Cases </a:t>
            </a:r>
            <a:r>
              <a:rPr lang="en-US" sz="2000" b="1" dirty="0"/>
              <a:t>increase again in 2020 and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Slight </a:t>
            </a:r>
            <a:r>
              <a:rPr lang="en-US" sz="2000" b="1" dirty="0"/>
              <a:t>decline observed in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Overall trend shows </a:t>
            </a:r>
            <a:r>
              <a:rPr lang="en-US" sz="2000" b="1" dirty="0"/>
              <a:t>fluctuating pattern over years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dirty="0"/>
          </a:p>
        </p:txBody>
      </p:sp>
      <p:pic>
        <p:nvPicPr>
          <p:cNvPr id="4" name="Picture 3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67D7C9A9-8259-C0F9-FB8C-986A80DBE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833" y="1308496"/>
            <a:ext cx="5829868" cy="47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5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US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Insights</a:t>
            </a:r>
            <a:endParaRPr sz="4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13400" y="984541"/>
            <a:ext cx="12192000" cy="5416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609585" algn="just">
              <a:lnSpc>
                <a:spcPct val="150000"/>
              </a:lnSpc>
              <a:spcBef>
                <a:spcPts val="2133"/>
              </a:spcBef>
              <a:spcAft>
                <a:spcPts val="2133"/>
              </a:spcAft>
            </a:pPr>
            <a:endParaRPr sz="2667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36381-AFBA-69A5-8E9C-8B34A2496370}"/>
              </a:ext>
            </a:extLst>
          </p:cNvPr>
          <p:cNvSpPr txBox="1"/>
          <p:nvPr/>
        </p:nvSpPr>
        <p:spPr>
          <a:xfrm>
            <a:off x="114300" y="1120544"/>
            <a:ext cx="607024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Q.3 Gender Wise Suicide</a:t>
            </a:r>
          </a:p>
          <a:p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Suicide cases are significantly higher among </a:t>
            </a:r>
            <a:r>
              <a:rPr lang="en-US" sz="2000" b="1" dirty="0"/>
              <a:t>males</a:t>
            </a:r>
            <a:r>
              <a:rPr lang="en-US" sz="2000" dirty="0"/>
              <a:t> compared to females</a:t>
            </a:r>
            <a:r>
              <a:rPr lang="en-US" sz="2000" b="1" dirty="0"/>
              <a:t> </a:t>
            </a:r>
          </a:p>
          <a:p>
            <a:endParaRPr lang="en-US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“Males contribute the majority of suicide cases, indicating a critical need for targeted mental health support.”</a:t>
            </a:r>
          </a:p>
          <a:p>
            <a:endParaRPr lang="en-US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There is a </a:t>
            </a:r>
            <a:r>
              <a:rPr lang="en-US" sz="2000" b="1" dirty="0"/>
              <a:t>clear gender gap</a:t>
            </a:r>
            <a:r>
              <a:rPr lang="en-US" sz="2000" dirty="0"/>
              <a:t>, with males being the most affected group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Societal pressure and economic responsibility may contribute to higher male suicide rates</a:t>
            </a:r>
          </a:p>
          <a:p>
            <a:endParaRPr lang="en-US" dirty="0"/>
          </a:p>
        </p:txBody>
      </p:sp>
      <p:pic>
        <p:nvPicPr>
          <p:cNvPr id="7" name="Picture 6" descr="A graph of suicide cases&#10;&#10;AI-generated content may be incorrect.">
            <a:extLst>
              <a:ext uri="{FF2B5EF4-FFF2-40B4-BE49-F238E27FC236}">
                <a16:creationId xmlns:a16="http://schemas.microsoft.com/office/drawing/2014/main" id="{5F0E031C-8744-7678-1FC1-32A695FE4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534" y="1376084"/>
            <a:ext cx="5454166" cy="414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54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Insights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13400" y="984541"/>
            <a:ext cx="12192000" cy="5416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609585" algn="just">
              <a:lnSpc>
                <a:spcPct val="150000"/>
              </a:lnSpc>
              <a:spcBef>
                <a:spcPts val="2133"/>
              </a:spcBef>
              <a:spcAft>
                <a:spcPts val="2133"/>
              </a:spcAft>
            </a:pPr>
            <a:endParaRPr sz="2667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7797C56-A815-2007-92B4-1FB09D8FE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989" y="1120545"/>
            <a:ext cx="6189646" cy="42597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89CD56-F8B3-0F42-F150-44394CE86B7F}"/>
              </a:ext>
            </a:extLst>
          </p:cNvPr>
          <p:cNvSpPr txBox="1"/>
          <p:nvPr/>
        </p:nvSpPr>
        <p:spPr>
          <a:xfrm>
            <a:off x="73478" y="1120544"/>
            <a:ext cx="602252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Q.4 Gender-wise Suicide Trend Over            Years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Male suicide cases remain </a:t>
            </a:r>
            <a:r>
              <a:rPr lang="en-US" sz="2000" b="1" dirty="0"/>
              <a:t>consistently higher across all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a </a:t>
            </a:r>
            <a:r>
              <a:rPr lang="en-US" sz="2000" b="1" dirty="0"/>
              <a:t>sharp decline in 2019</a:t>
            </a:r>
            <a:r>
              <a:rPr lang="en-US" sz="2000" dirty="0"/>
              <a:t>, followed by recovery in later years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Female cases show a </a:t>
            </a:r>
            <a:r>
              <a:rPr lang="en-US" sz="2000" b="1" dirty="0"/>
              <a:t>gradual increase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“Despite fluctuations, the gender gap remains significant over the years.”</a:t>
            </a:r>
          </a:p>
        </p:txBody>
      </p:sp>
    </p:spTree>
    <p:extLst>
      <p:ext uri="{BB962C8B-B14F-4D97-AF65-F5344CB8AC3E}">
        <p14:creationId xmlns:p14="http://schemas.microsoft.com/office/powerpoint/2010/main" val="2335928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13400" y="984541"/>
            <a:ext cx="12192000" cy="5416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1066785" indent="-4572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Suicide cases are highest among </a:t>
            </a:r>
            <a:r>
              <a:rPr lang="en-US" sz="2400" b="1" dirty="0"/>
              <a:t>lower and middle education groups.</a:t>
            </a:r>
          </a:p>
          <a:p>
            <a:pPr marL="1066785" indent="-4572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Higher education groups show </a:t>
            </a:r>
            <a:r>
              <a:rPr lang="en-US" sz="2400" b="1" dirty="0"/>
              <a:t>significantly lower cases</a:t>
            </a:r>
          </a:p>
          <a:p>
            <a:pPr marL="1066785" indent="-4572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Male population is the most affected</a:t>
            </a:r>
            <a:r>
              <a:rPr lang="en-US" sz="2400" dirty="0"/>
              <a:t>, showing a significant gender gap.</a:t>
            </a:r>
          </a:p>
          <a:p>
            <a:pPr marL="1066785" indent="-4572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Suicide trends show </a:t>
            </a:r>
            <a:r>
              <a:rPr lang="en-US" sz="2400" b="1" dirty="0"/>
              <a:t>fluctuations over the years</a:t>
            </a:r>
            <a:r>
              <a:rPr lang="en-US" sz="2400" dirty="0"/>
              <a:t>, with no consistent decline</a:t>
            </a:r>
          </a:p>
          <a:p>
            <a:pPr marL="1066785" indent="-4572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“This analysis emphasizes the need for targeted mental health awareness, early intervention, and support systems for high-risk groups.”</a:t>
            </a:r>
          </a:p>
          <a:p>
            <a:pPr marL="1066785" indent="-4572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066785" indent="-4572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066785" indent="-4572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endParaRPr sz="2667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1422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Future Scope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0" y="1021534"/>
            <a:ext cx="12192000" cy="537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33" tIns="365733" rIns="365733" bIns="365733" anchor="t" anchorCtr="0">
            <a:noAutofit/>
          </a:bodyPr>
          <a:lstStyle/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Include </a:t>
            </a:r>
            <a:r>
              <a:rPr lang="en-US" sz="2400" b="1" dirty="0"/>
              <a:t>more recent and detailed data</a:t>
            </a:r>
            <a:r>
              <a:rPr lang="en-US" sz="2400" dirty="0"/>
              <a:t> for better trend analysis.</a:t>
            </a:r>
          </a:p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Perform </a:t>
            </a:r>
            <a:r>
              <a:rPr lang="en-US" sz="2400" b="1" dirty="0"/>
              <a:t>state-wise and district-level analysis</a:t>
            </a:r>
            <a:r>
              <a:rPr lang="en-US" sz="2400" dirty="0"/>
              <a:t> to identify regional patterns.</a:t>
            </a:r>
          </a:p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/>
              <a:t>machine learning models</a:t>
            </a:r>
            <a:r>
              <a:rPr lang="en-US" sz="2400" dirty="0"/>
              <a:t> to predict high-risk groups.</a:t>
            </a:r>
          </a:p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Study additional factors like </a:t>
            </a:r>
            <a:r>
              <a:rPr lang="en-US" sz="2400" b="1" dirty="0"/>
              <a:t>economic conditions, occupation, and social factors</a:t>
            </a:r>
            <a:r>
              <a:rPr lang="en-U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952485" indent="-342900" algn="just"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Develop </a:t>
            </a:r>
            <a:r>
              <a:rPr lang="en-US" sz="2400" b="1" dirty="0"/>
              <a:t>data-driven policies and awareness programs</a:t>
            </a:r>
            <a:r>
              <a:rPr lang="en-US" sz="2400" dirty="0"/>
              <a:t> for prevention</a:t>
            </a:r>
          </a:p>
          <a:p>
            <a:pPr marL="609585" algn="just">
              <a:spcBef>
                <a:spcPts val="2133"/>
              </a:spcBef>
              <a:spcAft>
                <a:spcPts val="2133"/>
              </a:spcAft>
            </a:pPr>
            <a:endParaRPr lang="en-US" sz="2800" b="1" dirty="0"/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2082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750</Words>
  <Application>Microsoft Office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Roboto</vt:lpstr>
      <vt:lpstr>Wingdings</vt:lpstr>
      <vt:lpstr>Office Theme</vt:lpstr>
      <vt:lpstr>PowerPoint Presentation</vt:lpstr>
      <vt:lpstr>Problem Statement</vt:lpstr>
      <vt:lpstr>About the Data</vt:lpstr>
      <vt:lpstr>Proposed Solution / Methodology</vt:lpstr>
      <vt:lpstr>Insights</vt:lpstr>
      <vt:lpstr>Insights</vt:lpstr>
      <vt:lpstr>Insights</vt:lpstr>
      <vt:lpstr>Insights</vt:lpstr>
      <vt:lpstr>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Zebion</dc:creator>
  <cp:lastModifiedBy>Sayali Kamble</cp:lastModifiedBy>
  <cp:revision>20</cp:revision>
  <dcterms:created xsi:type="dcterms:W3CDTF">2022-08-27T05:41:13Z</dcterms:created>
  <dcterms:modified xsi:type="dcterms:W3CDTF">2026-03-29T09:42:32Z</dcterms:modified>
</cp:coreProperties>
</file>